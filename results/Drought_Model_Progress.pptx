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4E79"/>
                </a:solidFill>
              </a:rPr>
              <a:t>Forecasting Drought Severity in Kerr County, TX</a:t>
            </a:r>
          </a:p>
          <a:p>
            <a:r>
              <a:rPr sz="1800">
                <a:solidFill>
                  <a:srgbClr val="595959"/>
                </a:solidFill>
              </a:rPr>
              <a:t>A machine-learning pipeline using weather &amp; vegetation data</a:t>
            </a:r>
          </a:p>
          <a:p>
            <a:r>
              <a:rPr sz="1800">
                <a:solidFill>
                  <a:srgbClr val="595959"/>
                </a:solidFill>
              </a:rPr>
              <a:t>REEU 2026 — Team 1  |  Progress update  |  baseline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Goal: forecast the U.S. Drought Monitor (USDM) severity class for Kerr County 4 weeks ahead.</a:t>
            </a:r>
          </a:p>
          <a:p>
            <a:pPr>
              <a:spcAft>
                <a:spcPts val="600"/>
              </a:spcAft>
            </a:pPr>
            <a:r>
              <a:rPr sz="1800"/>
              <a:t>• 6 classes: no_drought, D0 (abnormally dry) ... D4 (exceptional drought).</a:t>
            </a:r>
          </a:p>
          <a:p>
            <a:pPr>
              <a:spcAft>
                <a:spcPts val="600"/>
              </a:spcAft>
            </a:pPr>
            <a:r>
              <a:rPr sz="1800"/>
              <a:t>• Inputs: past weather + vegetation greenness. Why it matters: an early signal supports water-use and agricultural planning.</a:t>
            </a:r>
          </a:p>
          <a:p>
            <a:pPr>
              <a:spcAft>
                <a:spcPts val="600"/>
              </a:spcAft>
            </a:pPr>
            <a:r>
              <a:rPr sz="1800"/>
              <a:t>• Scope of this update: a complete, working end-to-end pipeline and a first baseline model on 2000–2024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Data sources</a:t>
            </a:r>
          </a:p>
          <a:p>
            <a:r>
              <a:rPr sz="1500">
                <a:solidFill>
                  <a:srgbClr val="595959"/>
                </a:solidFill>
              </a:rPr>
              <a:t>Kerr County, TX  •  weekly  •  2000–2024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USDM drought labels (drought.gov) — the weekly truth we predict.</a:t>
            </a:r>
          </a:p>
          <a:p>
            <a:pPr>
              <a:spcAft>
                <a:spcPts val="600"/>
              </a:spcAft>
            </a:pPr>
            <a:r>
              <a:rPr sz="1800"/>
              <a:t>• NOAA daily weather — precipitation and temperature (95 stations).</a:t>
            </a:r>
          </a:p>
          <a:p>
            <a:pPr>
              <a:spcAft>
                <a:spcPts val="600"/>
              </a:spcAft>
            </a:pPr>
            <a:r>
              <a:rPr sz="1800"/>
              <a:t>• MODIS NDVI — satellite vegetation greenness (16-day).</a:t>
            </a:r>
          </a:p>
          <a:p>
            <a:pPr>
              <a:spcAft>
                <a:spcPts val="600"/>
              </a:spcAft>
            </a:pPr>
            <a:r>
              <a:rPr sz="1800"/>
              <a:t>• Texas Mesonet soil moisture — available 2019+, planned as a future feature.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The work behind the results</a:t>
            </a:r>
          </a:p>
          <a:p>
            <a:r>
              <a:rPr sz="1500">
                <a:solidFill>
                  <a:srgbClr val="595959"/>
                </a:solidFill>
              </a:rPr>
              <a:t>Most of the effort is data engineering — getting trustworthy, aligned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/>
              <a:t>• Consolidated ~177,000 daily records from 95 NOAA stations across 4 files; removed duplicate overlap years.</a:t>
            </a:r>
          </a:p>
          <a:p>
            <a:pPr>
              <a:spcAft>
                <a:spcPts val="600"/>
              </a:spcAft>
            </a:pPr>
            <a:r>
              <a:rPr sz="1700"/>
              <a:t>• Found &amp; fixed a data-integrity bug: 2005–2009 temperature/precip were in metric units (tenths °C / mm), producing impossible values (e.g. 380°F). Re-pulled in standard units.</a:t>
            </a:r>
          </a:p>
          <a:p>
            <a:pPr>
              <a:spcAft>
                <a:spcPts val="600"/>
              </a:spcAft>
            </a:pPr>
            <a:r>
              <a:rPr sz="1700"/>
              <a:t>• Built the labels: collapsed USDM cumulative drought %-area into a single weekly class; fixed a parsing pitfall where "None" was read as missing data.</a:t>
            </a:r>
          </a:p>
          <a:p>
            <a:pPr>
              <a:spcAft>
                <a:spcPts val="600"/>
              </a:spcAft>
            </a:pPr>
            <a:r>
              <a:rPr sz="1700"/>
              <a:t>• Unified three different time cadences (weekly / daily / 16-day) onto one weekly grid via resampling and interpolation.</a:t>
            </a:r>
          </a:p>
          <a:p>
            <a:pPr>
              <a:spcAft>
                <a:spcPts val="600"/>
              </a:spcAft>
            </a:pPr>
            <a:r>
              <a:rPr sz="1700"/>
              <a:t>• Framed as forecasting: 4 weeks of weather → drought class 4 weeks later, with a chronological train/test split to prevent the model from peeking at the future.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Modeling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Features: weekly precipitation, max/min temperature, NDVI — over a 4-week window (16 inputs).</a:t>
            </a:r>
          </a:p>
          <a:p>
            <a:pPr>
              <a:spcAft>
                <a:spcPts val="600"/>
              </a:spcAft>
            </a:pPr>
            <a:r>
              <a:rPr sz="1800"/>
              <a:t>• Model: feed-forward neural network (multi-layer perceptron) with a 6-way softmax output.</a:t>
            </a:r>
          </a:p>
          <a:p>
            <a:pPr>
              <a:spcAft>
                <a:spcPts val="600"/>
              </a:spcAft>
            </a:pPr>
            <a:r>
              <a:rPr sz="1800"/>
              <a:t>• Trained on 2000–2017, validated 2017–2021, tested 2021–2024 (strictly chronological — no look-ahead).</a:t>
            </a:r>
          </a:p>
          <a:p>
            <a:pPr>
              <a:spcAft>
                <a:spcPts val="600"/>
              </a:spcAft>
            </a:pPr>
            <a:r>
              <a:rPr sz="1800"/>
              <a:t>• Evaluated with accuracy, macro-F1 (treats rare classes fairly), and a confusion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Results — baseline model</a:t>
            </a:r>
          </a:p>
          <a:p>
            <a:r>
              <a:rPr sz="1500">
                <a:solidFill>
                  <a:srgbClr val="595959"/>
                </a:solidFill>
              </a:rPr>
              <a:t>Test accuracy 42%  •  macro-F1 0.30  (held-out 2021–2024)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554480"/>
            <a:ext cx="5943600" cy="4245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Results — forecast vs. reality over time</a:t>
            </a:r>
          </a:p>
          <a:p>
            <a:r>
              <a:rPr sz="1500">
                <a:solidFill>
                  <a:srgbClr val="595959"/>
                </a:solidFill>
              </a:rPr>
              <a:t>Gray: 24-year drought history  •  Black: actual (test)  •  Red: model forecast</a:t>
            </a:r>
          </a:p>
        </p:txBody>
      </p:sp>
      <p:pic>
        <p:nvPicPr>
          <p:cNvPr id="3" name="Picture 2" descr="severity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554480"/>
            <a:ext cx="7498079" cy="53557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What the results tell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The model reliably distinguishes severe drought (D4) and no-drought conditions.</a:t>
            </a:r>
          </a:p>
          <a:p>
            <a:pPr>
              <a:spcAft>
                <a:spcPts val="600"/>
              </a:spcAft>
            </a:pPr>
            <a:r>
              <a:rPr sz="1800"/>
              <a:t>• It struggles with the rarest mild categories (D0/D1) — a class-imbalance issue, not a pipeline flaw.</a:t>
            </a:r>
          </a:p>
          <a:p>
            <a:pPr>
              <a:spcAft>
                <a:spcPts val="600"/>
              </a:spcAft>
            </a:pPr>
            <a:r>
              <a:rPr sz="1800"/>
              <a:t>• This is an early baseline: its value is proving the full data-to-forecast pipeline works end-to-end.</a:t>
            </a:r>
          </a:p>
          <a:p>
            <a:pPr>
              <a:spcAft>
                <a:spcPts val="600"/>
              </a:spcAft>
            </a:pPr>
            <a:r>
              <a:rPr sz="1800"/>
              <a:t>• Accuracy is expected to rise substantially with the improvements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Status: what is built and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Working &amp; tested end-to-end:</a:t>
            </a:r>
          </a:p>
          <a:p>
            <a:pPr lvl="1">
              <a:spcAft>
                <a:spcPts val="600"/>
              </a:spcAft>
            </a:pPr>
            <a:r>
              <a:rPr sz="1500"/>
              <a:t>– Label preparation, NOAA consolidation + unit fix</a:t>
            </a:r>
          </a:p>
          <a:p>
            <a:pPr lvl="1">
              <a:spcAft>
                <a:spcPts val="600"/>
              </a:spcAft>
            </a:pPr>
            <a:r>
              <a:rPr sz="1500"/>
              <a:t>– Data pipeline: resample → merge → window → split → scale</a:t>
            </a:r>
          </a:p>
          <a:p>
            <a:pPr lvl="1">
              <a:spcAft>
                <a:spcPts val="600"/>
              </a:spcAft>
            </a:pPr>
            <a:r>
              <a:rPr sz="1500"/>
              <a:t>– Model training + evaluation + visualizations</a:t>
            </a:r>
          </a:p>
          <a:p>
            <a:pPr>
              <a:spcAft>
                <a:spcPts val="600"/>
              </a:spcAft>
            </a:pPr>
            <a:r>
              <a:rPr sz="1800"/>
              <a:t>• In progress / next:</a:t>
            </a:r>
          </a:p>
          <a:p>
            <a:pPr lvl="1">
              <a:spcAft>
                <a:spcPts val="600"/>
              </a:spcAft>
            </a:pPr>
            <a:r>
              <a:rPr sz="1500"/>
              <a:t>– Configurable training driver for systematic experiments</a:t>
            </a:r>
          </a:p>
          <a:p>
            <a:pPr lvl="1">
              <a:spcAft>
                <a:spcPts val="600"/>
              </a:spcAft>
            </a:pPr>
            <a:r>
              <a:rPr sz="1500"/>
              <a:t>– Soil-moisture features; hyperparameter tuning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/>
              <a:t>• Address class imbalance (class weights / resampling) so mild-drought classes are learned.</a:t>
            </a:r>
          </a:p>
          <a:p>
            <a:pPr>
              <a:spcAft>
                <a:spcPts val="600"/>
              </a:spcAft>
            </a:pPr>
            <a:r>
              <a:rPr sz="1800"/>
              <a:t>• Add Texas Mesonet soil-moisture features for recent years.</a:t>
            </a:r>
          </a:p>
          <a:p>
            <a:pPr>
              <a:spcAft>
                <a:spcPts val="600"/>
              </a:spcAft>
            </a:pPr>
            <a:r>
              <a:rPr sz="1800"/>
              <a:t>• Hyperparameter tuning and architecture exploration (incl. sequence models / LSTM).</a:t>
            </a:r>
          </a:p>
          <a:p>
            <a:pPr>
              <a:spcAft>
                <a:spcPts val="600"/>
              </a:spcAft>
            </a:pPr>
            <a:r>
              <a:rPr sz="1800"/>
              <a:t>• Try ordinal-aware modeling that respects drought-severity ordering.</a:t>
            </a:r>
          </a:p>
          <a:p>
            <a:pPr>
              <a:spcAft>
                <a:spcPts val="600"/>
              </a:spcAft>
            </a:pPr>
            <a:r>
              <a:rPr sz="1800"/>
              <a:t>• Extend beyond a single county once the approach is validated.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